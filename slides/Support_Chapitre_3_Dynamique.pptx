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40" r:id="rId91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39" r:id="rId90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notesMasterIdLst>
    <p:notesMasterId r:id="rId8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1.xml"/><Relationship Id="rId52" Type="http://schemas.openxmlformats.org/officeDocument/2006/relationships/slide" Target="slides/slide52.xml"/><Relationship Id="rId53" Type="http://schemas.openxmlformats.org/officeDocument/2006/relationships/slide" Target="slides/slide53.xml"/><Relationship Id="rId54" Type="http://schemas.openxmlformats.org/officeDocument/2006/relationships/slide" Target="slides/slide54.xml"/><Relationship Id="rId55" Type="http://schemas.openxmlformats.org/officeDocument/2006/relationships/slide" Target="slides/slide55.xml"/><Relationship Id="rId56" Type="http://schemas.openxmlformats.org/officeDocument/2006/relationships/slide" Target="slides/slide56.xml"/><Relationship Id="rId57" Type="http://schemas.openxmlformats.org/officeDocument/2006/relationships/slide" Target="slides/slide57.xml"/><Relationship Id="rId58" Type="http://schemas.openxmlformats.org/officeDocument/2006/relationships/slide" Target="slides/slide58.xml"/><Relationship Id="rId59" Type="http://schemas.openxmlformats.org/officeDocument/2006/relationships/slide" Target="slides/slide59.xml"/><Relationship Id="rId60" Type="http://schemas.openxmlformats.org/officeDocument/2006/relationships/slide" Target="slides/slide60.xml"/><Relationship Id="rId61" Type="http://schemas.openxmlformats.org/officeDocument/2006/relationships/slide" Target="slides/slide61.xml"/><Relationship Id="rId62" Type="http://schemas.openxmlformats.org/officeDocument/2006/relationships/slide" Target="slides/slide62.xml"/><Relationship Id="rId63" Type="http://schemas.openxmlformats.org/officeDocument/2006/relationships/slide" Target="slides/slide64.xml"/><Relationship Id="rId64" Type="http://schemas.openxmlformats.org/officeDocument/2006/relationships/slide" Target="slides/slide65.xml"/><Relationship Id="rId65" Type="http://schemas.openxmlformats.org/officeDocument/2006/relationships/slide" Target="slides/slide66.xml"/><Relationship Id="rId66" Type="http://schemas.openxmlformats.org/officeDocument/2006/relationships/slide" Target="slides/slide67.xml"/><Relationship Id="rId67" Type="http://schemas.openxmlformats.org/officeDocument/2006/relationships/slide" Target="slides/slide68.xml"/><Relationship Id="rId68" Type="http://schemas.openxmlformats.org/officeDocument/2006/relationships/slide" Target="slides/slide69.xml"/><Relationship Id="rId69" Type="http://schemas.openxmlformats.org/officeDocument/2006/relationships/slide" Target="slides/slide70.xml"/><Relationship Id="rId70" Type="http://schemas.openxmlformats.org/officeDocument/2006/relationships/slide" Target="slides/slide71.xml"/><Relationship Id="rId71" Type="http://schemas.openxmlformats.org/officeDocument/2006/relationships/slide" Target="slides/slide72.xml"/><Relationship Id="rId72" Type="http://schemas.openxmlformats.org/officeDocument/2006/relationships/slide" Target="slides/slide73.xml"/><Relationship Id="rId73" Type="http://schemas.openxmlformats.org/officeDocument/2006/relationships/slide" Target="slides/slide74.xml"/><Relationship Id="rId74" Type="http://schemas.openxmlformats.org/officeDocument/2006/relationships/slide" Target="slides/slide75.xml"/><Relationship Id="rId75" Type="http://schemas.openxmlformats.org/officeDocument/2006/relationships/slide" Target="slides/slide76.xml"/><Relationship Id="rId76" Type="http://schemas.openxmlformats.org/officeDocument/2006/relationships/slide" Target="slides/slide77.xml"/><Relationship Id="rId77" Type="http://schemas.openxmlformats.org/officeDocument/2006/relationships/slide" Target="slides/slide78.xml"/><Relationship Id="rId78" Type="http://schemas.openxmlformats.org/officeDocument/2006/relationships/slide" Target="slides/slide79.xml"/><Relationship Id="rId79" Type="http://schemas.openxmlformats.org/officeDocument/2006/relationships/slide" Target="slides/slide80.xml"/><Relationship Id="rId80" Type="http://schemas.openxmlformats.org/officeDocument/2006/relationships/slide" Target="slides/slide81.xml"/><Relationship Id="rId81" Type="http://schemas.openxmlformats.org/officeDocument/2006/relationships/slide" Target="slides/slide82.xml"/><Relationship Id="rId82" Type="http://schemas.openxmlformats.org/officeDocument/2006/relationships/slide" Target="slides/slide83.xml"/><Relationship Id="rId83" Type="http://schemas.openxmlformats.org/officeDocument/2006/relationships/slide" Target="slides/slide84.xml"/><Relationship Id="rId84" Type="http://schemas.openxmlformats.org/officeDocument/2006/relationships/slide" Target="slides/slide85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Relationship Id="rId90" Type="http://schemas.openxmlformats.org/officeDocument/2006/relationships/slide" Target="slides/slide63.xml"/><Relationship Id="rId91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Physique I • Chapitre 3 — Dynamique du point matériel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9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0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0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Physique I : Mécanique du point matériel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V="1">
            <a:off x="1097280" y="3474720"/>
            <a:ext cx="1920240" cy="731520"/>
          </a:xfrm>
          <a:prstGeom prst="line">
            <a:avLst/>
          </a:prstGeom>
          <a:noFill/>
          <a:ln w="381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1097280" y="2743200"/>
            <a:ext cx="594360" cy="1463040"/>
          </a:xfrm>
          <a:prstGeom prst="line">
            <a:avLst/>
          </a:prstGeom>
          <a:noFill/>
          <a:ln w="38100">
            <a:solidFill>
              <a:srgbClr val="7FB8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1097280" y="2057400"/>
            <a:ext cx="2514600" cy="2148840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017520" y="2057400"/>
            <a:ext cx="594360" cy="1417320"/>
          </a:xfrm>
          <a:prstGeom prst="line">
            <a:avLst/>
          </a:prstGeom>
          <a:noFill/>
          <a:ln w="12700">
            <a:solidFill>
              <a:srgbClr val="8C99A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1691640" y="2057400"/>
            <a:ext cx="1920240" cy="685800"/>
          </a:xfrm>
          <a:prstGeom prst="line">
            <a:avLst/>
          </a:prstGeom>
          <a:noFill/>
          <a:ln w="12700">
            <a:solidFill>
              <a:srgbClr val="8C99A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3</a:t>
            </a:r>
            <a:endParaRPr lang="en-US" sz="26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Dynamique du point matériel</a:t>
            </a:r>
            <a:endParaRPr lang="en-US" sz="4000" dirty="0"/>
          </a:p>
        </p:txBody>
      </p:sp>
      <p:sp>
        <p:nvSpPr>
          <p:cNvPr id="62" name="Text 60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Exemples • Exercices corrigés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  <p:sp>
        <p:nvSpPr>
          <p:cNvPr id="66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Dynamique du point matériel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Distinguer référentiel, repère et système de coordonnées ; reconnaître un référentiel galiléen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Énoncer et appliquer les trois lois de Newton ; conservation de la quantité de mouvement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Exprimer les forces usuelles : gravitation, poids, Coulomb, ressort, frottements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le moment cinétique et les forces centrales ; mettre un mouvement en équation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 : produits scalaire et vectoriel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2 : vitesse, accélération, Frenet, polaires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Dérivées, primitives, exponentielle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Trigonométrie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37637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37637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: de la cinématique à la dynamique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52897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05609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05609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952897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loi de Newton : le principe d'inertie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671354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774551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774551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671354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 de mouvement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389811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49300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49300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389811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108269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211465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211465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108269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Troisième loi de Newton : principe des actions réciproques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826726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492992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492992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4826726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5545183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" y="5648379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5648379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508760" y="5545183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de frottement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0" y="1234440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1337637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27648" y="1337637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1234440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moment cinétique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1952897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205609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27648" y="205609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1952897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forces centrales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7920" y="2671354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7648" y="2774551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27648" y="2774551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2671354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7920" y="3389811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27648" y="349300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27648" y="349300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3.11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3389811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7920" y="4108269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27648" y="4211465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27648" y="4211465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3.12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4108269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17920" y="4826726"/>
            <a:ext cx="5394960" cy="608729"/>
          </a:xfrm>
          <a:prstGeom prst="roundRect">
            <a:avLst>
              <a:gd name="adj" fmla="val 9013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27648" y="492992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27648" y="492992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4826726"/>
            <a:ext cx="4343400" cy="60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: de la cinématique à la dynamique</a:t>
            </a:r>
            <a:endParaRPr lang="en-US" sz="2600" dirty="0"/>
          </a:p>
        </p:txBody>
      </p:sp>
      <p:pic>
        <p:nvPicPr>
          <p:cNvPr id="5" name="Image 0" descr="3.1 Introduction : de la cinématique à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: de la cinématique à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 Introduction : de la cinématique à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: de la cinématique à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 Introduction : de la cinématique à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: de la cinématique à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 Introduction : de la cinématique à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: de la cinématique à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 Introduction : de la cinématique à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loi de Newton : le principe d'inertie</a:t>
            </a:r>
            <a:endParaRPr lang="en-US" sz="2600" dirty="0"/>
          </a:p>
        </p:txBody>
      </p:sp>
      <p:pic>
        <p:nvPicPr>
          <p:cNvPr id="5" name="Image 0" descr="3.2 Première loi de Newton : le principe d'in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loi de Newton : le principe d'inertie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remière loi de Newton : le principe d'in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loi de Newton : le principe d'inertie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remière loi de Newton : le principe d'in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loi de Newton : le principe d'inertie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remière loi de Newton : le principe d'in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loi de Newton : le principe d'inertie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remière loi de Newton : le principe d'in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loi de Newton : le principe d'inertie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2 Première loi de Newton : le principe d'in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 de mouvement</a:t>
            </a:r>
            <a:endParaRPr lang="en-US" sz="2600" dirty="0"/>
          </a:p>
        </p:txBody>
      </p:sp>
      <p:pic>
        <p:nvPicPr>
          <p:cNvPr id="5" name="Image 0" descr="3.3 Quantité de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 de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3 Quantité de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 de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3 Quantité de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 de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3 Quantité de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 de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3 Quantité de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loi de Newton : principe fondamental de la dynamique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4 Deuxième loi de Newton : principe fondamental de la dynam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Troisième loi de Newton : principe des actions réciproques</a:t>
            </a:r>
            <a:endParaRPr lang="en-US" sz="2600" dirty="0"/>
          </a:p>
        </p:txBody>
      </p:sp>
      <p:pic>
        <p:nvPicPr>
          <p:cNvPr id="5" name="Image 0" descr="3.5 Troisième loi de Newton : principe des actions récipro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Troisième loi de Newton : principe des actions réciproques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5 Troisième loi de Newton : principe des actions récipro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Troisième loi de Newton : principe des actions réciproques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5 Troisième loi de Newton : principe des actions récipro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endParaRPr lang="en-US" sz="2600" dirty="0"/>
          </a:p>
        </p:txBody>
      </p:sp>
      <p:pic>
        <p:nvPicPr>
          <p:cNvPr id="5" name="Image 0" descr="3.6 Quelques lois de fo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Quelques lois de fo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Quelques lois de fo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Quelques lois de fo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Quelques lois de fo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Quelques lois de fo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Quelques lois de fo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Quelques lois de fo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lois de forces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6 Quelques lois de fo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de frottement</a:t>
            </a:r>
            <a:endParaRPr lang="en-US" sz="2600" dirty="0"/>
          </a:p>
        </p:txBody>
      </p:sp>
      <p:pic>
        <p:nvPicPr>
          <p:cNvPr id="5" name="Image 0" descr="3.7 Forces de frott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de frottement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7 Forces de frott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de frottement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7 Forces de frott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de frottement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7 Forces de frott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de frottement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7 Forces de frott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de frottement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7 Forces de frott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de frottement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7 Forces de frott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de frottement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7 Forces de frott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incliné avec frottement — simulation 3D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49</a:t>
            </a:fld>
            <a:endParaRPr lang="en-US"/>
          </a:p>
        </p:txBody>
      </p:sp>
      <p:pic>
        <p:nvPicPr>
          <p:cNvPr id="26" name="sim_pla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moment cinétique</a:t>
            </a:r>
            <a:endParaRPr lang="en-US" sz="2600" dirty="0"/>
          </a:p>
        </p:txBody>
      </p:sp>
      <p:pic>
        <p:nvPicPr>
          <p:cNvPr id="5" name="Image 0" descr="3.8 Le moment ci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moment cinétique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8 Le moment ci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moment cinétique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8 Le moment ci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moment cinétique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8 Le moment ci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moment cinétique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8 Le moment ci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forces centrales</a:t>
            </a:r>
            <a:endParaRPr lang="en-US" sz="2600" dirty="0"/>
          </a:p>
        </p:txBody>
      </p:sp>
      <p:pic>
        <p:nvPicPr>
          <p:cNvPr id="5" name="Image 0" descr="3.9 Les forces centra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forces centrales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9 Les forces centra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forces centrales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9 Les forces centra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forces centrales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9 Les forces centra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forces centrales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9 Les forces centra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forces centrales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9 Les forces centra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forces centrales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9 Les forces centra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centrale et loi des aires — simulation 3D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61</a:t>
            </a:fld>
            <a:endParaRPr lang="en-US"/>
          </a:p>
        </p:txBody>
      </p:sp>
      <p:pic>
        <p:nvPicPr>
          <p:cNvPr id="26" name="sim_central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équations différentielles du mouvement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0 Les équations différentielles du mouv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3.11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1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endParaRPr lang="en-US" sz="2600" dirty="0"/>
          </a:p>
        </p:txBody>
      </p:sp>
      <p:pic>
        <p:nvPicPr>
          <p:cNvPr id="5" name="Image 0" descr="3.12 Exercices d'entraîn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2 Exercices d'entraîn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endParaRPr lang="en-US" sz="2600" dirty="0"/>
          </a:p>
        </p:txBody>
      </p:sp>
      <p:pic>
        <p:nvPicPr>
          <p:cNvPr id="5" name="Image 0" descr="3.13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3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3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3.13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3</a:t>
            </a:r>
            <a:endParaRPr lang="en-US" sz="40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Dynamique du point matériel</a:t>
            </a:r>
            <a:endParaRPr lang="en-US" sz="240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  <p:sp>
        <p:nvSpPr>
          <p:cNvPr id="54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Physique I — Chapitre 3 : Dynamique du point matériel</dc:title>
  <dc:subject>PptxGenJS Presentation</dc:subject>
  <dc:creator>Dr Papa Touty Traoré</dc:creator>
  <cp:lastModifiedBy>Dr Papa Touty Traoré</cp:lastModifiedBy>
  <cp:revision>1</cp:revision>
  <dcterms:created xsi:type="dcterms:W3CDTF">2026-10-10T14:05:54Z</dcterms:created>
  <dcterms:modified xsi:type="dcterms:W3CDTF">2026-10-10T14:05:54Z</dcterms:modified>
</cp:coreProperties>
</file>