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Optique géométrique • Chapitre 5 — Les lentilles minces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0" y="6446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 • Dr P. T. Traoré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822960" cy="9144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UFR Sciences • Licence 1 • Optique géométrique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2103120"/>
            <a:ext cx="2194560" cy="2103120"/>
          </a:xfrm>
          <a:prstGeom prst="triangle">
            <a:avLst/>
          </a:prstGeom>
          <a:solidFill>
            <a:srgbClr val="FFFFFF">
              <a:alpha val="15000"/>
            </a:srgbClr>
          </a:solidFill>
          <a:ln w="19050">
            <a:solidFill>
              <a:srgbClr val="E6EC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74320" y="3063240"/>
            <a:ext cx="1783080" cy="457200"/>
          </a:xfrm>
          <a:prstGeom prst="line">
            <a:avLst/>
          </a:prstGeom>
          <a:noFill/>
          <a:ln w="444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057400" y="3017520"/>
            <a:ext cx="1005840" cy="45720"/>
          </a:xfrm>
          <a:prstGeom prst="line">
            <a:avLst/>
          </a:prstGeom>
          <a:noFill/>
          <a:ln w="27940">
            <a:solidFill>
              <a:srgbClr val="D953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3017520"/>
            <a:ext cx="1143000" cy="457200"/>
          </a:xfrm>
          <a:prstGeom prst="line">
            <a:avLst/>
          </a:prstGeom>
          <a:noFill/>
          <a:ln w="27940">
            <a:solidFill>
              <a:srgbClr val="D953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3063240"/>
            <a:ext cx="1005840" cy="9144"/>
          </a:xfrm>
          <a:prstGeom prst="line">
            <a:avLst/>
          </a:prstGeom>
          <a:noFill/>
          <a:ln w="27940">
            <a:solidFill>
              <a:srgbClr val="D98E0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3072384"/>
            <a:ext cx="1143000" cy="713232"/>
          </a:xfrm>
          <a:prstGeom prst="line">
            <a:avLst/>
          </a:prstGeom>
          <a:noFill/>
          <a:ln w="27940">
            <a:solidFill>
              <a:srgbClr val="D98E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3063240"/>
            <a:ext cx="1005840" cy="64008"/>
          </a:xfrm>
          <a:prstGeom prst="line">
            <a:avLst/>
          </a:prstGeom>
          <a:noFill/>
          <a:ln w="27940">
            <a:solidFill>
              <a:srgbClr val="E8D4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3127248"/>
            <a:ext cx="1143000" cy="950976"/>
          </a:xfrm>
          <a:prstGeom prst="line">
            <a:avLst/>
          </a:prstGeom>
          <a:noFill/>
          <a:ln w="27940">
            <a:solidFill>
              <a:srgbClr val="E8D4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57400" y="3063240"/>
            <a:ext cx="1005840" cy="118872"/>
          </a:xfrm>
          <a:prstGeom prst="line">
            <a:avLst/>
          </a:prstGeom>
          <a:noFill/>
          <a:ln w="27940">
            <a:solidFill>
              <a:srgbClr val="4CAF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63240" y="3182112"/>
            <a:ext cx="1143000" cy="1188720"/>
          </a:xfrm>
          <a:prstGeom prst="line">
            <a:avLst/>
          </a:prstGeom>
          <a:noFill/>
          <a:ln w="27940">
            <a:solidFill>
              <a:srgbClr val="4CAF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57400" y="3063240"/>
            <a:ext cx="1005840" cy="173736"/>
          </a:xfrm>
          <a:prstGeom prst="line">
            <a:avLst/>
          </a:prstGeom>
          <a:noFill/>
          <a:ln w="27940">
            <a:solidFill>
              <a:srgbClr val="4FB3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63240" y="3236976"/>
            <a:ext cx="1143000" cy="1426464"/>
          </a:xfrm>
          <a:prstGeom prst="line">
            <a:avLst/>
          </a:prstGeom>
          <a:noFill/>
          <a:ln w="27940">
            <a:solidFill>
              <a:srgbClr val="4FB3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57400" y="3063240"/>
            <a:ext cx="1005840" cy="228600"/>
          </a:xfrm>
          <a:prstGeom prst="line">
            <a:avLst/>
          </a:prstGeom>
          <a:noFill/>
          <a:ln w="27940">
            <a:solidFill>
              <a:srgbClr val="7B6C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63240" y="3291840"/>
            <a:ext cx="1143000" cy="1682496"/>
          </a:xfrm>
          <a:prstGeom prst="line">
            <a:avLst/>
          </a:prstGeom>
          <a:noFill/>
          <a:ln w="27940">
            <a:solidFill>
              <a:srgbClr val="7B6C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0" y="33832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503920" y="37947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503920" y="420624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503920" y="461772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503920" y="502920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503920" y="54406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503920" y="58521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4572000" y="2011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DE COURS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2423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5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lentilles minces</a:t>
            </a:r>
            <a:endParaRPr lang="en-US" sz="3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0" y="4343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• Démonstrations détaillées • Figures • Synthèse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498348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26395A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49834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Enseignant-Chercheur</a:t>
            </a:r>
            <a:endParaRPr lang="en-US" sz="11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 universitaire 2026 – 2027</a:t>
            </a:r>
            <a:endParaRPr lang="en-US" sz="1100" dirty="0"/>
          </a:p>
        </p:txBody>
      </p:sp>
      <p:sp>
        <p:nvSpPr>
          <p:cNvPr id="33" name="Logo USNM (cadre)"/>
          <p:cNvSpPr/>
          <p:nvPr/>
        </p:nvSpPr>
        <p:spPr>
          <a:xfrm>
            <a:off x="10378440" y="384048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E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Logo Université Souleymane Niang de Matam" descr="usnm-logo-h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475488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lentilles minces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457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400800" cy="4206240"/>
          </a:xfrm>
          <a:prstGeom prst="rect">
            <a:avLst/>
          </a:prstGeom>
          <a:solidFill>
            <a:srgbClr val="EEF4F6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6400800" cy="4114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288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du chapitre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77440"/>
            <a:ext cx="60350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Classer les lentilles ; définir centre optique, foyers, vergence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Établir les relations de Descartes et de Newton ; le grandissement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l'image d'un objet par une lentille convergente ou divergente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Associer des lentilles accolées ou non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Connaître les aberrations chromatiques et géométriques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1828800"/>
            <a:ext cx="4434840" cy="4206240"/>
          </a:xfrm>
          <a:prstGeom prst="rect">
            <a:avLst/>
          </a:prstGeom>
          <a:solidFill>
            <a:srgbClr val="FDF3E1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828800"/>
            <a:ext cx="4434840" cy="41148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0" y="18288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Prérequis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377440"/>
            <a:ext cx="4069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4 : dioptre sphérique, relations de conjugaison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2 : conditions de Gauss, foyers, vergence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Mesures algébriques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du chapitre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Généralités sur les lentilles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 de conjugaison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94436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9443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80720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des images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792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2764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2764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Associations de lentilles minces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764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2764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aberrations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0" y="28072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7648" y="294436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27648" y="29443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80720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Généralités sur les lentilles</a:t>
            </a:r>
            <a:endParaRPr lang="en-US" sz="2600" dirty="0"/>
          </a:p>
        </p:txBody>
      </p:sp>
      <p:pic>
        <p:nvPicPr>
          <p:cNvPr id="5" name="Image 0" descr="5.1 Généralités sur les lentil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Généralités sur les lentilles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5.1 Généralités sur les lentil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Généralités sur les lentilles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5.1 Généralités sur les lentil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 de conjugaison</a:t>
            </a:r>
            <a:endParaRPr lang="en-US" sz="2600" dirty="0"/>
          </a:p>
        </p:txBody>
      </p:sp>
      <p:pic>
        <p:nvPicPr>
          <p:cNvPr id="5" name="Image 0" descr="5.2 Relations de conjugais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 de conjugaison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5.2 Relations de conjugais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 de conjugaison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5.2 Relations de conjugais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 de conjugaison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5.2 Relations de conjugais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des images</a:t>
            </a:r>
            <a:endParaRPr lang="en-US" sz="2600" dirty="0"/>
          </a:p>
        </p:txBody>
      </p:sp>
      <p:pic>
        <p:nvPicPr>
          <p:cNvPr id="5" name="Image 0" descr="5.3 Construction des ima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des images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5.3 Construction des ima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des images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5.3 Construction des ima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des images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5.3 Construction des ima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Associations de lentilles minces</a:t>
            </a:r>
            <a:endParaRPr lang="en-US" sz="2600" dirty="0"/>
          </a:p>
        </p:txBody>
      </p:sp>
      <p:pic>
        <p:nvPicPr>
          <p:cNvPr id="5" name="Image 0" descr="5.4 Associations de lentilles min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Associations de lentilles minces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5.4 Associations de lentilles min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Associations de lentilles minces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5.4 Associations de lentilles min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aberrations</a:t>
            </a:r>
            <a:endParaRPr lang="en-US" sz="2600" dirty="0"/>
          </a:p>
        </p:txBody>
      </p:sp>
      <p:pic>
        <p:nvPicPr>
          <p:cNvPr id="5" name="Image 0" descr="5.5 Les aberr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aberrations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5.5 Les aberr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aberrations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5.5 Les aberr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2600" dirty="0"/>
          </a:p>
        </p:txBody>
      </p:sp>
      <p:pic>
        <p:nvPicPr>
          <p:cNvPr id="5" name="Image 0" descr="5.6 L'essentiel du chapit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3832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8503920" y="37947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8503920" y="420624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503920" y="461772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503920" y="502920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503920" y="54406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503920" y="58521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731520" y="2377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du chapitre 5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lentilles minces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0233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du cours d'optique géométrique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 — Université Souleymane Niang de Matam</a:t>
            </a:r>
            <a:endParaRPr lang="en-US" sz="1200" dirty="0"/>
          </a:p>
        </p:txBody>
      </p:sp>
      <p:sp>
        <p:nvSpPr>
          <p:cNvPr id="13" name="Logo USNM (cadre)"/>
          <p:cNvSpPr/>
          <p:nvPr/>
        </p:nvSpPr>
        <p:spPr>
          <a:xfrm>
            <a:off x="10378440" y="384048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8E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Logo Université Souleymane Niang de Matam" descr="usnm-logo-h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475488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Optique géométrique — Chapitre 5 : Les lentilles minces</dc:title>
  <dc:subject>PptxGenJS Presentation</dc:subject>
  <dc:creator>Dr Papa Touty Traoré</dc:creator>
  <cp:lastModifiedBy>Dr Papa Touty Traoré</cp:lastModifiedBy>
  <cp:revision>1</cp:revision>
  <dcterms:created xsi:type="dcterms:W3CDTF">2026-10-16T18:56:36Z</dcterms:created>
  <dcterms:modified xsi:type="dcterms:W3CDTF">2026-10-16T18:56:36Z</dcterms:modified>
</cp:coreProperties>
</file>