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Électricité 1 • Chapitre 4 — Électrocinétique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0" y="6446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 • Dr P. T. Traoré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2920"/>
            <a:ext cx="822960" cy="9144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731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UFR-STI • Licence PCI • L1 • Électricité 1 (LPCI1122)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2377440"/>
            <a:ext cx="2926080" cy="914"/>
          </a:xfrm>
          <a:prstGeom prst="line">
            <a:avLst/>
          </a:prstGeom>
          <a:noFill/>
          <a:ln w="25400">
            <a:solidFill>
              <a:srgbClr val="7FB8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0" y="2377440"/>
            <a:ext cx="914" cy="1828800"/>
          </a:xfrm>
          <a:prstGeom prst="line">
            <a:avLst/>
          </a:prstGeom>
          <a:noFill/>
          <a:ln w="25400">
            <a:solidFill>
              <a:srgbClr val="7FB8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206240"/>
            <a:ext cx="2926080" cy="914"/>
          </a:xfrm>
          <a:prstGeom prst="line">
            <a:avLst/>
          </a:prstGeom>
          <a:noFill/>
          <a:ln w="25400">
            <a:solidFill>
              <a:srgbClr val="7FB8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377440"/>
            <a:ext cx="914" cy="685800"/>
          </a:xfrm>
          <a:prstGeom prst="line">
            <a:avLst/>
          </a:prstGeom>
          <a:noFill/>
          <a:ln w="25400">
            <a:solidFill>
              <a:srgbClr val="7FB8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520440"/>
            <a:ext cx="914" cy="685800"/>
          </a:xfrm>
          <a:prstGeom prst="line">
            <a:avLst/>
          </a:prstGeom>
          <a:noFill/>
          <a:ln w="25400">
            <a:solidFill>
              <a:srgbClr val="7FB8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3063240"/>
            <a:ext cx="548640" cy="914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20440"/>
            <a:ext cx="274320" cy="914"/>
          </a:xfrm>
          <a:prstGeom prst="line">
            <a:avLst/>
          </a:prstGeom>
          <a:noFill/>
          <a:ln w="635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0240" y="2221992"/>
            <a:ext cx="914400" cy="310896"/>
          </a:xfrm>
          <a:prstGeom prst="rect">
            <a:avLst/>
          </a:prstGeom>
          <a:solidFill>
            <a:srgbClr val="1B2A41"/>
          </a:solidFill>
          <a:ln w="25400">
            <a:solidFill>
              <a:srgbClr val="D98E0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85032" y="2834640"/>
            <a:ext cx="310896" cy="914400"/>
          </a:xfrm>
          <a:prstGeom prst="rect">
            <a:avLst/>
          </a:prstGeom>
          <a:solidFill>
            <a:srgbClr val="1B2A41"/>
          </a:solidFill>
          <a:ln w="25400">
            <a:solidFill>
              <a:srgbClr val="D98E0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77440" y="4206240"/>
            <a:ext cx="914" cy="914"/>
          </a:xfrm>
          <a:prstGeom prst="line">
            <a:avLst/>
          </a:prstGeom>
          <a:noFill/>
          <a:ln w="25400">
            <a:solidFill>
              <a:srgbClr val="7FB8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8720" y="2057400"/>
            <a:ext cx="594360" cy="914"/>
          </a:xfrm>
          <a:prstGeom prst="line">
            <a:avLst/>
          </a:prstGeom>
          <a:noFill/>
          <a:ln w="31750">
            <a:solidFill>
              <a:srgbClr val="E25B45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3258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FFFFF"/>
                </a:solidFill>
              </a:rPr>
              <a:t>I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FFFFF"/>
                </a:solidFill>
              </a:rPr>
              <a:t>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FFFFF"/>
                </a:solidFill>
              </a:rPr>
              <a:t>R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8" name="Text 66"/>
          <p:cNvSpPr txBox="1"/>
          <p:nvPr/>
        </p:nvSpPr>
        <p:spPr>
          <a:xfrm>
            <a:off x="4572000" y="20116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DE COURS</a:t>
            </a:r>
            <a:endParaRPr lang="en-US" sz="1500" dirty="0"/>
          </a:p>
        </p:txBody>
      </p:sp>
      <p:sp>
        <p:nvSpPr>
          <p:cNvPr id="69" name="Text 67"/>
          <p:cNvSpPr txBox="1"/>
          <p:nvPr/>
        </p:nvSpPr>
        <p:spPr>
          <a:xfrm>
            <a:off x="4572000" y="24231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4</a:t>
            </a:r>
            <a:endParaRPr lang="en-US" sz="2600" dirty="0"/>
          </a:p>
        </p:txBody>
      </p:sp>
      <p:sp>
        <p:nvSpPr>
          <p:cNvPr id="70" name="Text 68"/>
          <p:cNvSpPr txBox="1"/>
          <p:nvPr/>
        </p:nvSpPr>
        <p:spPr>
          <a:xfrm>
            <a:off x="457200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Électrocinétique : courant continu et réseaux linéaires</a:t>
            </a:r>
            <a:endParaRPr lang="en-US" sz="3000" dirty="0"/>
          </a:p>
        </p:txBody>
      </p:sp>
      <p:sp>
        <p:nvSpPr>
          <p:cNvPr id="71" name="Text 69"/>
          <p:cNvSpPr txBox="1"/>
          <p:nvPr/>
        </p:nvSpPr>
        <p:spPr>
          <a:xfrm>
            <a:off x="4572000" y="43434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 • Démonstrations détaillées • Figures • Synthèse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40080" y="49834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26395A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22960" y="498348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Enseignant-Chercheur</a:t>
            </a:r>
            <a:endParaRPr lang="en-US" sz="11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</a:t>
            </a:r>
            <a:endParaRPr lang="en-US" sz="1100" dirty="0"/>
          </a:p>
        </p:txBody>
      </p:sp>
      <p:sp>
        <p:nvSpPr>
          <p:cNvPr id="74" name="Text 72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Année universitaire 2026 – 2027</a:t>
            </a:r>
            <a:endParaRPr lang="en-US" sz="1100" dirty="0"/>
          </a:p>
        </p:txBody>
      </p:sp>
      <p:sp>
        <p:nvSpPr>
          <p:cNvPr id="75" name="Logo USNM (cadre)"/>
          <p:cNvSpPr/>
          <p:nvPr/>
        </p:nvSpPr>
        <p:spPr>
          <a:xfrm>
            <a:off x="10378440" y="384048"/>
            <a:ext cx="13716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Logo Université Souleymane Niang de Matam" descr="usnm-logo-h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475488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Électrocinétique : courant continu et réseaux linéaires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332720" y="4572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6400800" cy="4206240"/>
          </a:xfrm>
          <a:prstGeom prst="rect">
            <a:avLst/>
          </a:prstGeom>
          <a:solidFill>
            <a:srgbClr val="EEF4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6400800" cy="4114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288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Objectifs du chapitre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77440"/>
            <a:ext cx="60350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Définir intensité, tension et puissance ; utiliser les conventions récepteur et générateur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Associer des résistances ; utiliser les diviseurs ; modéliser générateurs et récepteurs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Écrire et résoudre les équations de Kirchhoff ; appliquer la méthode des mailles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Utiliser superposition, Thévenin, Norton, Millman et la transformation de Kennelly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Connaître condensateur et bobine ; distinguer régimes libre, forcé et permanent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223760" y="1828800"/>
            <a:ext cx="4434840" cy="4206240"/>
          </a:xfrm>
          <a:prstGeom prst="rect">
            <a:avLst/>
          </a:prstGeom>
          <a:solidFill>
            <a:srgbClr val="FDF3E1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0" y="1828800"/>
            <a:ext cx="4434840" cy="41148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06640" y="182880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Prérequis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377440"/>
            <a:ext cx="4069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Chapitres 1 et 2 : charge électrique, potentiel électrostatique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Systèmes d'équations linéaires (substitution, Cramer, déterminant 2×2)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Électricité du baccalauréat : loi d'Ohm, circuits série et parallèle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du chapitre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137160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7160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34440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Courant et tension en régime continu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20824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15798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15798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020824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Dipôles passifs et dipôles actifs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807208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294436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294436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807208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Réseaux électriques linéaires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593592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730752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73075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593592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lois de Kirchhoff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379976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4517136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517136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4379976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Méthode des mailles (théorème de Maxwell)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5166360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" y="530352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30352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508760" y="5166360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 de superposition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217920" y="1234440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7648" y="137160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27648" y="137160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1234440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Théorèmes de Thévenin et de Norton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17920" y="2020824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27648" y="215798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27648" y="215798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2020824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 de Millman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217920" y="2807208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27648" y="294436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27648" y="294436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7178040" y="2807208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 triangle--étoile (Kennelly)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217920" y="3593592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327648" y="3730752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27648" y="373075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4.10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178040" y="3593592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aux régimes variables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217920" y="4379976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327648" y="4517136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327648" y="4517136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4.11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4379976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Courant et tension en régime continu</a:t>
            </a:r>
            <a:endParaRPr lang="en-US" sz="2600" dirty="0"/>
          </a:p>
        </p:txBody>
      </p:sp>
      <p:pic>
        <p:nvPicPr>
          <p:cNvPr id="5" name="Image 0" descr="4.1 Courant et tension en régime conti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Courant et tension en régime continu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1 Courant et tension en régime conti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Courant et tension en régime continu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1 Courant et tension en régime conti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Dipôles passifs et dipôles actifs</a:t>
            </a:r>
            <a:endParaRPr lang="en-US" sz="2600" dirty="0"/>
          </a:p>
        </p:txBody>
      </p:sp>
      <p:pic>
        <p:nvPicPr>
          <p:cNvPr id="5" name="Image 0" descr="4.2 Dipôles passifs et dipôles actif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Dipôles passifs et dipôles actifs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2 Dipôles passifs et dipôles actif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Dipôles passifs et dipôles actifs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2 Dipôles passifs et dipôles actif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Dipôles passifs et dipôles actifs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2 Dipôles passifs et dipôles actif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Dipôles passifs et dipôles actifs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2 Dipôles passifs et dipôles actif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Dipôles passifs et dipôles actifs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2 Dipôles passifs et dipôles actif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Réseaux électriques linéaires</a:t>
            </a:r>
            <a:endParaRPr lang="en-US" sz="2600" dirty="0"/>
          </a:p>
        </p:txBody>
      </p:sp>
      <p:pic>
        <p:nvPicPr>
          <p:cNvPr id="5" name="Image 0" descr="4.3 Réseaux électriques linéai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Réseaux électriques linéaires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3 Réseaux électriques linéai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lois de Kirchhoff</a:t>
            </a:r>
            <a:endParaRPr lang="en-US" sz="2600" dirty="0"/>
          </a:p>
        </p:txBody>
      </p:sp>
      <p:pic>
        <p:nvPicPr>
          <p:cNvPr id="5" name="Image 0" descr="4.4 Les lois de Kirchho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lois de Kirchhoff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4 Les lois de Kirchho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lois de Kirchhoff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4 Les lois de Kirchho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lois de Kirchhoff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4 Les lois de Kirchho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Méthode des mailles (théorème de Maxwell)</a:t>
            </a:r>
            <a:endParaRPr lang="en-US" sz="2600" dirty="0"/>
          </a:p>
        </p:txBody>
      </p:sp>
      <p:pic>
        <p:nvPicPr>
          <p:cNvPr id="5" name="Image 0" descr="4.5 Méthode des mailles (théorème de Maxwell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Méthode des mailles (théorème de Maxwell)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5 Méthode des mailles (théorème de Maxwell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 de superposition</a:t>
            </a:r>
            <a:endParaRPr lang="en-US" sz="2600" dirty="0"/>
          </a:p>
        </p:txBody>
      </p:sp>
      <p:pic>
        <p:nvPicPr>
          <p:cNvPr id="5" name="Image 0" descr="4.6 Théorème de superposi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 de superposition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6 Théorème de superposi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Théorèmes de Thévenin et de Norton</a:t>
            </a:r>
            <a:endParaRPr lang="en-US" sz="2600" dirty="0"/>
          </a:p>
        </p:txBody>
      </p:sp>
      <p:pic>
        <p:nvPicPr>
          <p:cNvPr id="5" name="Image 0" descr="4.7 Théorèmes de Thévenin et de Nor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Théorèmes de Thévenin et de Norton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7 Théorèmes de Thévenin et de Nor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Théorèmes de Thévenin et de Norton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7 Théorèmes de Thévenin et de Nor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Théorèmes de Thévenin et de Norton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7 Théorèmes de Thévenin et de Nor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 de Millman</a:t>
            </a:r>
            <a:endParaRPr lang="en-US" sz="2600" dirty="0"/>
          </a:p>
        </p:txBody>
      </p:sp>
      <p:pic>
        <p:nvPicPr>
          <p:cNvPr id="5" name="Image 0" descr="4.8 Théorème de Millm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Théorème de Millman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8 Théorème de Millm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 triangle--étoile (Kennelly)</a:t>
            </a:r>
            <a:endParaRPr lang="en-US" sz="2600" dirty="0"/>
          </a:p>
        </p:txBody>
      </p:sp>
      <p:pic>
        <p:nvPicPr>
          <p:cNvPr id="5" name="Image 0" descr="4.9 Transformation triangle--étoile (Kennelly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 triangle--étoile (Kennelly)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9 Transformation triangle--étoile (Kennelly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aux régimes variables</a:t>
            </a:r>
            <a:endParaRPr lang="en-US" sz="2600" dirty="0"/>
          </a:p>
        </p:txBody>
      </p:sp>
      <p:pic>
        <p:nvPicPr>
          <p:cNvPr id="5" name="Image 0" descr="4.10 Introduction aux régimes variab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aux régimes variables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10 Introduction aux régimes variab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aux régimes variables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4.10 Introduction aux régimes variab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2600" dirty="0"/>
          </a:p>
        </p:txBody>
      </p:sp>
      <p:pic>
        <p:nvPicPr>
          <p:cNvPr id="5" name="Image 0" descr="4.11 L'essentiel du chapit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" name="Shape 1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731520" y="2377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du chapitre 4</a:t>
            </a:r>
            <a:endParaRPr lang="en-US" sz="4000" dirty="0"/>
          </a:p>
        </p:txBody>
      </p:sp>
      <p:sp>
        <p:nvSpPr>
          <p:cNvPr id="52" name="Text 50"/>
          <p:cNvSpPr txBox="1"/>
          <p:nvPr/>
        </p:nvSpPr>
        <p:spPr>
          <a:xfrm>
            <a:off x="73152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Électrocinétique : courant continu et réseaux linéaires</a:t>
            </a:r>
            <a:endParaRPr lang="en-US" sz="2400" dirty="0"/>
          </a:p>
        </p:txBody>
      </p:sp>
      <p:sp>
        <p:nvSpPr>
          <p:cNvPr id="53" name="Text 51"/>
          <p:cNvSpPr txBox="1"/>
          <p:nvPr/>
        </p:nvSpPr>
        <p:spPr>
          <a:xfrm>
            <a:off x="731520" y="6126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 — Université Souleymane Niang de Matam</a:t>
            </a:r>
            <a:endParaRPr lang="en-US" sz="1200" dirty="0"/>
          </a:p>
        </p:txBody>
      </p:sp>
      <p:sp>
        <p:nvSpPr>
          <p:cNvPr id="54" name="Logo USNM (cadre)"/>
          <p:cNvSpPr/>
          <p:nvPr/>
        </p:nvSpPr>
        <p:spPr>
          <a:xfrm>
            <a:off x="10378440" y="384048"/>
            <a:ext cx="13716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Logo Université Souleymane Niang de Matam" descr="usnm-logo-h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475488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Électricité 1 — Chapitre 4 : Électrocinétique : courant continu et réseaux linéaires</dc:title>
  <dc:subject>PptxGenJS Presentation</dc:subject>
  <dc:creator>Dr Papa Touty Traoré</dc:creator>
  <cp:lastModifiedBy>Dr Papa Touty Traoré</cp:lastModifiedBy>
  <cp:revision>1</cp:revision>
  <dcterms:created xsi:type="dcterms:W3CDTF">2026-10-27T17:22:15Z</dcterms:created>
  <dcterms:modified xsi:type="dcterms:W3CDTF">2026-10-27T17:22:15Z</dcterms:modified>
</cp:coreProperties>
</file>