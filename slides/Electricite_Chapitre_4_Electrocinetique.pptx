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Électricité 1 • Chapitre 4 — Électrocinétique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UFR-STI • Licence PCI • L1 • Électricité 1 (LPCI1122)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2377440"/>
            <a:ext cx="2926080" cy="914"/>
          </a:xfrm>
          <a:prstGeom prst="line">
            <a:avLst/>
          </a:prstGeom>
          <a:noFill/>
          <a:ln w="25400">
            <a:solidFill>
              <a:srgbClr val="7FB8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2377440"/>
            <a:ext cx="914" cy="1828800"/>
          </a:xfrm>
          <a:prstGeom prst="line">
            <a:avLst/>
          </a:prstGeom>
          <a:noFill/>
          <a:ln w="25400">
            <a:solidFill>
              <a:srgbClr val="7FB8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206240"/>
            <a:ext cx="2926080" cy="914"/>
          </a:xfrm>
          <a:prstGeom prst="line">
            <a:avLst/>
          </a:prstGeom>
          <a:noFill/>
          <a:ln w="25400">
            <a:solidFill>
              <a:srgbClr val="7FB8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914" cy="685800"/>
          </a:xfrm>
          <a:prstGeom prst="line">
            <a:avLst/>
          </a:prstGeom>
          <a:noFill/>
          <a:ln w="25400">
            <a:solidFill>
              <a:srgbClr val="7FB8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520440"/>
            <a:ext cx="914" cy="685800"/>
          </a:xfrm>
          <a:prstGeom prst="line">
            <a:avLst/>
          </a:prstGeom>
          <a:noFill/>
          <a:ln w="25400">
            <a:solidFill>
              <a:srgbClr val="7FB8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063240"/>
            <a:ext cx="548640" cy="914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20440"/>
            <a:ext cx="274320" cy="914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2221992"/>
            <a:ext cx="914400" cy="310896"/>
          </a:xfrm>
          <a:prstGeom prst="rect">
            <a:avLst/>
          </a:prstGeom>
          <a:solidFill>
            <a:srgbClr val="1B2A41"/>
          </a:solidFill>
          <a:ln w="25400">
            <a:solidFill>
              <a:srgbClr val="D98E0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85032" y="2834640"/>
            <a:ext cx="310896" cy="914400"/>
          </a:xfrm>
          <a:prstGeom prst="rect">
            <a:avLst/>
          </a:prstGeom>
          <a:solidFill>
            <a:srgbClr val="1B2A41"/>
          </a:solidFill>
          <a:ln w="25400">
            <a:solidFill>
              <a:srgbClr val="D98E0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4206240"/>
            <a:ext cx="914" cy="914"/>
          </a:xfrm>
          <a:prstGeom prst="line">
            <a:avLst/>
          </a:prstGeom>
          <a:noFill/>
          <a:ln w="25400">
            <a:solidFill>
              <a:srgbClr val="7FB8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2057400"/>
            <a:ext cx="594360" cy="914"/>
          </a:xfrm>
          <a:prstGeom prst="line">
            <a:avLst/>
          </a:prstGeom>
          <a:noFill/>
          <a:ln w="31750">
            <a:solidFill>
              <a:srgbClr val="E25B45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3258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</a:rPr>
              <a:t>I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</a:rPr>
              <a:t>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8" name="Text 66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69" name="Text 67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4</a:t>
            </a:r>
            <a:endParaRPr lang="en-US" sz="2600" dirty="0"/>
          </a:p>
        </p:txBody>
      </p:sp>
      <p:sp>
        <p:nvSpPr>
          <p:cNvPr id="70" name="Text 68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Électrocinétique : courant continu et réseaux linéaires</a:t>
            </a:r>
            <a:endParaRPr lang="en-US" sz="3000" dirty="0"/>
          </a:p>
        </p:txBody>
      </p:sp>
      <p:sp>
        <p:nvSpPr>
          <p:cNvPr id="71" name="Text 69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Figures • Synthèse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74" name="Text 72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Électrocinétique : courant continu et réseaux linéaires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intensité, tension et puissance ; utiliser les conventions récepteur et générateur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Associer des résistances ; utiliser les diviseurs ; modéliser générateurs et récepteurs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Écrire et résoudre les équations de Kirchhoff ; appliquer la méthode des mailles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superposition, Thévenin, Norton, Millman et la transformation de Kennelly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Connaître condensateur et bobine ; distinguer régimes libre, forcé et permanent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Chapitres 1 et 2 : charge électrique, potentiel électrostatique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Systèmes d'équations linéaires (substitution, Cramer, déterminant 2×2)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Électricité du baccalauréat : loi d'Ohm, circuits série et parallèle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Courant et tension en régime continu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Dipôles passifs et dipôles actifs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Réseaux électriques linéaires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Kirchhoff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517136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51713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379976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 des mailles (théorème de Maxwell)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530352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530352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16636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 de superposition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Théorèmes de Thévenin et de Norton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2764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 de Millman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2764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triangle--étoile (Kennelly)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792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764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2764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aux régimes variables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7920" y="4379976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27648" y="4517136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27648" y="451713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4.11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4379976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Courant et tension en régime continu</a:t>
            </a:r>
            <a:endParaRPr lang="en-US" sz="2600" dirty="0"/>
          </a:p>
        </p:txBody>
      </p:sp>
      <p:pic>
        <p:nvPicPr>
          <p:cNvPr id="5" name="Image 0" descr="4.1 Courant et tension en régime conti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Courant et tension en régime continu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Courant et tension en régime conti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Courant et tension en régime continu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Courant et tension en régime conti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Dipôles passifs et dipôles actifs</a:t>
            </a:r>
            <a:endParaRPr lang="en-US" sz="2600" dirty="0"/>
          </a:p>
        </p:txBody>
      </p:sp>
      <p:pic>
        <p:nvPicPr>
          <p:cNvPr id="5" name="Image 0" descr="4.2 Dipôles passifs et dipôles actif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Dipôles passifs et dipôles actifs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Dipôles passifs et dipôles actif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Dipôles passifs et dipôles actifs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Dipôles passifs et dipôles actif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Dipôles passifs et dipôles actifs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Dipôles passifs et dipôles actif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Dipôles passifs et dipôles actifs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Dipôles passifs et dipôles actif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Dipôles passifs et dipôles actifs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Dipôles passifs et dipôles actif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Réseaux électriques linéaires</a:t>
            </a:r>
            <a:endParaRPr lang="en-US" sz="2600" dirty="0"/>
          </a:p>
        </p:txBody>
      </p:sp>
      <p:pic>
        <p:nvPicPr>
          <p:cNvPr id="5" name="Image 0" descr="4.3 Réseaux électriques liné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Réseaux électriques linéaires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3 Réseaux électriques liné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Kirchhoff</a:t>
            </a:r>
            <a:endParaRPr lang="en-US" sz="2600" dirty="0"/>
          </a:p>
        </p:txBody>
      </p:sp>
      <p:pic>
        <p:nvPicPr>
          <p:cNvPr id="5" name="Image 0" descr="4.4 Les lois de Kirchhof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Kirchhoff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4 Les lois de Kirchhof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Kirchhoff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4 Les lois de Kirchhof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Kirchhoff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4 Les lois de Kirchhof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 des mailles (théorème de Maxwell)</a:t>
            </a:r>
            <a:endParaRPr lang="en-US" sz="2600" dirty="0"/>
          </a:p>
        </p:txBody>
      </p:sp>
      <p:pic>
        <p:nvPicPr>
          <p:cNvPr id="5" name="Image 0" descr="4.5 Méthode des mailles (théorème de Maxwel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 des mailles (théorème de Maxwell)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5 Méthode des mailles (théorème de Maxwel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 de superposition</a:t>
            </a:r>
            <a:endParaRPr lang="en-US" sz="2600" dirty="0"/>
          </a:p>
        </p:txBody>
      </p:sp>
      <p:pic>
        <p:nvPicPr>
          <p:cNvPr id="5" name="Image 0" descr="4.6 Théorème de superposi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 de superposition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6 Théorème de superposi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Théorèmes de Thévenin et de Norton</a:t>
            </a:r>
            <a:endParaRPr lang="en-US" sz="2600" dirty="0"/>
          </a:p>
        </p:txBody>
      </p:sp>
      <p:pic>
        <p:nvPicPr>
          <p:cNvPr id="5" name="Image 0" descr="4.7 Théorèmes de Thévenin et de Nor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Théorèmes de Thévenin et de Norton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7 Théorèmes de Thévenin et de Nor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Théorèmes de Thévenin et de Norton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7 Théorèmes de Thévenin et de Nor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Théorèmes de Thévenin et de Norton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7 Théorèmes de Thévenin et de Nor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 de Millman</a:t>
            </a:r>
            <a:endParaRPr lang="en-US" sz="2600" dirty="0"/>
          </a:p>
        </p:txBody>
      </p:sp>
      <p:pic>
        <p:nvPicPr>
          <p:cNvPr id="5" name="Image 0" descr="4.8 Théorème de Millm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 de Millman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8 Théorème de Millm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triangle--étoile (Kennelly)</a:t>
            </a:r>
            <a:endParaRPr lang="en-US" sz="2600" dirty="0"/>
          </a:p>
        </p:txBody>
      </p:sp>
      <p:pic>
        <p:nvPicPr>
          <p:cNvPr id="5" name="Image 0" descr="4.9 Transformation triangle--étoile (Kennelly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triangle--étoile (Kennelly)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9 Transformation triangle--étoile (Kennelly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aux régimes variables</a:t>
            </a:r>
            <a:endParaRPr lang="en-US" sz="2600" dirty="0"/>
          </a:p>
        </p:txBody>
      </p:sp>
      <p:pic>
        <p:nvPicPr>
          <p:cNvPr id="5" name="Image 0" descr="4.10 Introduction aux régimes vari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aux régimes variables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0 Introduction aux régimes vari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aux régimes variables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0 Introduction aux régimes vari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4.11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4</a:t>
            </a:r>
            <a:endParaRPr lang="en-US" sz="40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Électrocinétique : courant continu et réseaux linéaires</a:t>
            </a:r>
            <a:endParaRPr lang="en-US" sz="240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Électricité 1 — Chapitre 4 : Électrocinétique : courant continu et réseaux linéaires</dc:title>
  <dc:subject>PptxGenJS Presentation</dc:subject>
  <dc:creator>Dr Papa Touty Traoré</dc:creator>
  <cp:lastModifiedBy>Dr Papa Touty Traoré</cp:lastModifiedBy>
  <cp:revision>1</cp:revision>
  <dcterms:created xsi:type="dcterms:W3CDTF">2026-10-27T17:22:15Z</dcterms:created>
  <dcterms:modified xsi:type="dcterms:W3CDTF">2026-10-27T17:22:15Z</dcterms:modified>
</cp:coreProperties>
</file>