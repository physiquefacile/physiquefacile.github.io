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95" r:id="rId46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96" r:id="rId47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slide" Target="slides/slide34.xml"/><Relationship Id="rId34" Type="http://schemas.openxmlformats.org/officeDocument/2006/relationships/slide" Target="slides/slide35.xml"/><Relationship Id="rId35" Type="http://schemas.openxmlformats.org/officeDocument/2006/relationships/slide" Target="slides/slide36.xml"/><Relationship Id="rId36" Type="http://schemas.openxmlformats.org/officeDocument/2006/relationships/slide" Target="slides/slide37.xml"/><Relationship Id="rId37" Type="http://schemas.openxmlformats.org/officeDocument/2006/relationships/slide" Target="slides/slide38.xml"/><Relationship Id="rId38" Type="http://schemas.openxmlformats.org/officeDocument/2006/relationships/slide" Target="slides/slide39.xml"/><Relationship Id="rId39" Type="http://schemas.openxmlformats.org/officeDocument/2006/relationships/slide" Target="slides/slide40.xml"/><Relationship Id="rId40" Type="http://schemas.openxmlformats.org/officeDocument/2006/relationships/slide" Target="slides/slide41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Relationship Id="rId46" Type="http://schemas.openxmlformats.org/officeDocument/2006/relationships/slide" Target="slides/slide23.xml"/><Relationship Id="rId47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Physique I • Chapitre 1 — Calcul vectoriel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760720" y="6446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Souleymane Niang de Matam • Dr P. T. Traoré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BR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822960" cy="9144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SOULEYMANE NIANG DE MATAM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UFR Sciences • Licence 1 • Physique I : Mécanique du point matériel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 flipV="1">
            <a:off x="1097280" y="3474720"/>
            <a:ext cx="1920240" cy="731520"/>
          </a:xfrm>
          <a:prstGeom prst="line">
            <a:avLst/>
          </a:prstGeom>
          <a:noFill/>
          <a:ln w="38100">
            <a:solidFill>
              <a:srgbClr val="D98E0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 flipV="1">
            <a:off x="1097280" y="2743200"/>
            <a:ext cx="594360" cy="1463040"/>
          </a:xfrm>
          <a:prstGeom prst="line">
            <a:avLst/>
          </a:prstGeom>
          <a:noFill/>
          <a:ln w="38100">
            <a:solidFill>
              <a:srgbClr val="7FB8C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V="1">
            <a:off x="1097280" y="2057400"/>
            <a:ext cx="2514600" cy="2148840"/>
          </a:xfrm>
          <a:prstGeom prst="line">
            <a:avLst/>
          </a:prstGeom>
          <a:noFill/>
          <a:ln w="444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V="1">
            <a:off x="3017520" y="2057400"/>
            <a:ext cx="594360" cy="1417320"/>
          </a:xfrm>
          <a:prstGeom prst="line">
            <a:avLst/>
          </a:prstGeom>
          <a:noFill/>
          <a:ln w="12700">
            <a:solidFill>
              <a:srgbClr val="8C99A8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 flipV="1">
            <a:off x="1691640" y="2057400"/>
            <a:ext cx="1920240" cy="685800"/>
          </a:xfrm>
          <a:prstGeom prst="line">
            <a:avLst/>
          </a:prstGeom>
          <a:noFill/>
          <a:ln w="12700">
            <a:solidFill>
              <a:srgbClr val="8C99A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8595360" y="3291840"/>
            <a:ext cx="292608" cy="9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595360" y="3794760"/>
            <a:ext cx="278287" cy="9042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595360" y="4297680"/>
            <a:ext cx="236725" cy="17199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595360" y="4800600"/>
            <a:ext cx="171991" cy="23672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595360" y="530352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595360" y="5806440"/>
            <a:ext cx="0" cy="29260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H="1">
            <a:off x="8504939" y="630936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V="1">
            <a:off x="9098280" y="3168179"/>
            <a:ext cx="265193" cy="1236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9098280" y="3759100"/>
            <a:ext cx="290427" cy="356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98280" y="4297680"/>
            <a:ext cx="287232" cy="5583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098280" y="4800600"/>
            <a:ext cx="255921" cy="1418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098280" y="5303520"/>
            <a:ext cx="199558" cy="21400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098280" y="5806440"/>
            <a:ext cx="123661" cy="2651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098280" y="6309360"/>
            <a:ext cx="35660" cy="29042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V="1">
            <a:off x="9601200" y="3067689"/>
            <a:ext cx="188085" cy="22415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V="1">
            <a:off x="9601200" y="3639701"/>
            <a:ext cx="248146" cy="1550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V="1">
            <a:off x="9601200" y="4226892"/>
            <a:ext cx="283916" cy="7078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601200" y="4800600"/>
            <a:ext cx="291895" cy="204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601200" y="5303520"/>
            <a:ext cx="271301" cy="10961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601200" y="5806440"/>
            <a:ext cx="224151" cy="1880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601200" y="6309360"/>
            <a:ext cx="155059" cy="24814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V="1">
            <a:off x="10104120" y="3009202"/>
            <a:ext cx="75733" cy="28263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 flipV="1">
            <a:off x="10104120" y="3549358"/>
            <a:ext cx="159366" cy="24540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 flipV="1">
            <a:off x="10104120" y="4113536"/>
            <a:ext cx="227399" cy="18414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V="1">
            <a:off x="10104120" y="4695739"/>
            <a:ext cx="273173" cy="1048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V="1">
            <a:off x="10104120" y="5288206"/>
            <a:ext cx="292207" cy="153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104120" y="5806440"/>
            <a:ext cx="282638" cy="757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0104120" y="6309360"/>
            <a:ext cx="245402" cy="1593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 flipH="1" flipV="1">
            <a:off x="10556229" y="3003677"/>
            <a:ext cx="50811" cy="2881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 flipV="1">
            <a:off x="10607040" y="3505000"/>
            <a:ext cx="40723" cy="2897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 flipV="1">
            <a:off x="10607040" y="4034686"/>
            <a:ext cx="128271" cy="26299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 flipV="1">
            <a:off x="10607040" y="4590115"/>
            <a:ext cx="203263" cy="2104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 flipV="1">
            <a:off x="10607040" y="5166149"/>
            <a:ext cx="258358" cy="13737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V="1">
            <a:off x="10607040" y="5755629"/>
            <a:ext cx="288163" cy="508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10607040" y="6309360"/>
            <a:ext cx="289760" cy="4072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 flipH="1" flipV="1">
            <a:off x="10942127" y="3052150"/>
            <a:ext cx="167833" cy="23969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 flipH="1" flipV="1">
            <a:off x="11024410" y="3514938"/>
            <a:ext cx="85550" cy="27982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 flipV="1">
            <a:off x="11109960" y="4005117"/>
            <a:ext cx="5107" cy="2925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 flipV="1">
            <a:off x="11109960" y="4523934"/>
            <a:ext cx="95264" cy="2766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 flipV="1">
            <a:off x="11109960" y="5069833"/>
            <a:ext cx="176096" cy="2336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 flipV="1">
            <a:off x="11109960" y="5638607"/>
            <a:ext cx="239690" cy="1678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 flipV="1">
            <a:off x="11109960" y="6223810"/>
            <a:ext cx="279822" cy="855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 flipH="1" flipV="1">
            <a:off x="11359474" y="3145536"/>
            <a:ext cx="253406" cy="14630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 flipH="1" flipV="1">
            <a:off x="11417087" y="3577310"/>
            <a:ext cx="195793" cy="2174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 flipH="1" flipV="1">
            <a:off x="11493866" y="4030369"/>
            <a:ext cx="119014" cy="2673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 flipH="1" flipV="1">
            <a:off x="11582294" y="4509595"/>
            <a:ext cx="30586" cy="29100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 flipV="1">
            <a:off x="11612880" y="5017306"/>
            <a:ext cx="60837" cy="2862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 flipV="1">
            <a:off x="11612880" y="5553034"/>
            <a:ext cx="146304" cy="25340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 flipV="1">
            <a:off x="11612880" y="6113567"/>
            <a:ext cx="217450" cy="1957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9" name="Text 57"/>
          <p:cNvSpPr txBox="1"/>
          <p:nvPr/>
        </p:nvSpPr>
        <p:spPr>
          <a:xfrm>
            <a:off x="4572000" y="2011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DE COURS</a:t>
            </a:r>
            <a:endParaRPr lang="en-US" sz="1500" dirty="0"/>
          </a:p>
        </p:txBody>
      </p:sp>
      <p:sp>
        <p:nvSpPr>
          <p:cNvPr id="60" name="Text 58"/>
          <p:cNvSpPr txBox="1"/>
          <p:nvPr/>
        </p:nvSpPr>
        <p:spPr>
          <a:xfrm>
            <a:off x="4572000" y="2423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1</a:t>
            </a:r>
            <a:endParaRPr lang="en-US" sz="2600" dirty="0"/>
          </a:p>
        </p:txBody>
      </p:sp>
      <p:sp>
        <p:nvSpPr>
          <p:cNvPr id="61" name="Text 59"/>
          <p:cNvSpPr txBox="1"/>
          <p:nvPr/>
        </p:nvSpPr>
        <p:spPr>
          <a:xfrm>
            <a:off x="4572000" y="297180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 vectoriel</a:t>
            </a:r>
            <a:endParaRPr lang="en-US" sz="4800" dirty="0"/>
          </a:p>
        </p:txBody>
      </p:sp>
      <p:sp>
        <p:nvSpPr>
          <p:cNvPr id="62" name="Text 60"/>
          <p:cNvSpPr txBox="1"/>
          <p:nvPr/>
        </p:nvSpPr>
        <p:spPr>
          <a:xfrm>
            <a:off x="4572000" y="38862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 • Démonstrations détaillées • Exemples • Exercices corrigés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640080" y="498348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26395A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822960" y="498348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Enseignant-Chercheur</a:t>
            </a:r>
            <a:endParaRPr lang="en-US" sz="11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Papa Touty TRAORÉ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</a:t>
            </a:r>
            <a:endParaRPr lang="en-US" sz="1100" dirty="0"/>
          </a:p>
        </p:txBody>
      </p:sp>
      <p:sp>
        <p:nvSpPr>
          <p:cNvPr id="65" name="Text 63"/>
          <p:cNvSpPr txBox="1"/>
          <p:nvPr/>
        </p:nvSpPr>
        <p:spPr>
          <a:xfrm>
            <a:off x="64008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Année universitaire 2026 – 2027</a:t>
            </a:r>
            <a:endParaRPr lang="en-US" sz="1100" dirty="0"/>
          </a:p>
        </p:txBody>
      </p:sp>
      <p:sp>
        <p:nvSpPr>
          <p:cNvPr id="66" name="Logo USNM (cadre)"/>
          <p:cNvSpPr/>
          <p:nvPr/>
        </p:nvSpPr>
        <p:spPr>
          <a:xfrm>
            <a:off x="10378440" y="384048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8E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Logo Université Souleymane Niang de Matam" descr="usnm-logo-h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475488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 vectoriel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4572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6400800" cy="4206240"/>
          </a:xfrm>
          <a:prstGeom prst="rect">
            <a:avLst/>
          </a:prstGeom>
          <a:solidFill>
            <a:srgbClr val="EEF4F6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6400800" cy="4114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288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du chapitre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77440"/>
            <a:ext cx="60350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Représenter un vecteur par ses composantes, son module et ses cosinus directeurs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Calculer sommes, différences, produits scalaire, vectoriel et mixte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Interpréter géométriquement ces opérations (angle, projection, aire, volume)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Calculer le moment d'un vecteur et dériver un vecteur par rapport au temps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223760" y="1828800"/>
            <a:ext cx="4434840" cy="4206240"/>
          </a:xfrm>
          <a:prstGeom prst="rect">
            <a:avLst/>
          </a:prstGeom>
          <a:solidFill>
            <a:srgbClr val="FDF3E1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1828800"/>
            <a:ext cx="4434840" cy="41148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06640" y="18288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Prérequis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2377440"/>
            <a:ext cx="40690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Trigonométrie : cos, sin, cos² + sin² = 1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Théorème de Pythagore, triangle rectangle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Déterminants 2×2 et 3×3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Dérivée d'un produit de fonctions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du chapitre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435608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43560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325880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Grandeurs scalaires et vectorielles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12264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221992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22199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112264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Caractéristiques d'un vecteur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898648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3008376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3008376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2898648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Somme et différence de vecteurs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685032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794760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79476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685032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Composantes et cosinus directeurs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471416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4581144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458114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4471416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 scalaire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525780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" y="5367528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8368" y="536752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508760" y="5257800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 vectoriel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17920" y="132588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27648" y="1435608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27648" y="143560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1325880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 mixte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17920" y="2112264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27648" y="2221992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27648" y="222199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178040" y="2112264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 d'un vecteur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17920" y="2898648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27648" y="3008376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27648" y="3008376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7178040" y="2898648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Dérivée d'un vecteur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17920" y="3685032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27648" y="3794760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327648" y="379476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1.10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7178040" y="3685032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217920" y="4471416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27648" y="4581144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327648" y="458114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1.11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7178040" y="4471416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Exercices d'entraînement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217920" y="525780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27648" y="5367528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327648" y="536752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1.12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7178040" y="5257800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Corrigés des exercices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Grandeurs scalaires et vectorielles</a:t>
            </a:r>
            <a:endParaRPr lang="en-US" sz="2600" dirty="0"/>
          </a:p>
        </p:txBody>
      </p:sp>
      <p:pic>
        <p:nvPicPr>
          <p:cNvPr id="5" name="Image 0" descr="1.1 Grandeurs scalaires et vectoriel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Caractéristiques d'un vecteur</a:t>
            </a:r>
            <a:endParaRPr lang="en-US" sz="2600" dirty="0"/>
          </a:p>
        </p:txBody>
      </p:sp>
      <p:pic>
        <p:nvPicPr>
          <p:cNvPr id="5" name="Image 0" descr="1.2 Caractéristiques d'un vecte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Caractéristiques d'un vecteur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2 Caractéristiques d'un vecte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Caractéristiques d'un vecteur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2 Caractéristiques d'un vecte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Caractéristiques d'un vecteur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2 Caractéristiques d'un vecte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Somme et différence de vecteurs</a:t>
            </a:r>
            <a:endParaRPr lang="en-US" sz="2600" dirty="0"/>
          </a:p>
        </p:txBody>
      </p:sp>
      <p:pic>
        <p:nvPicPr>
          <p:cNvPr id="5" name="Image 0" descr="1.3 Somme et différence de vecteu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Somme et différence de vecteurs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3 Somme et différence de vecteu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Somme et différence de vecteurs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3 Somme et différence de vecteu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Somme et différence de vecteurs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3 Somme et différence de vecteu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Composantes et cosinus directeurs</a:t>
            </a:r>
            <a:endParaRPr lang="en-US" sz="2600" dirty="0"/>
          </a:p>
        </p:txBody>
      </p:sp>
      <p:pic>
        <p:nvPicPr>
          <p:cNvPr id="5" name="Image 0" descr="1.4 Composantes et cosinus directeu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Composantes et cosinus directeurs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4 Composantes et cosinus directeu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Composantes et cosinus directeurs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4 Composantes et cosinus directeu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Composantes et cosinus directeurs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4 Composantes et cosinus directeu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Composantes et cosinus directeurs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4 Composantes et cosinus directeu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 scalaire</a:t>
            </a:r>
            <a:endParaRPr lang="en-US" sz="2600" dirty="0"/>
          </a:p>
        </p:txBody>
      </p:sp>
      <p:pic>
        <p:nvPicPr>
          <p:cNvPr id="5" name="Image 0" descr="1.5 Produit scalai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 scalaire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5 Produit scalai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 scalaire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5 Produit scalai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 scalaire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5 Produit scalai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 vectoriel</a:t>
            </a:r>
            <a:endParaRPr lang="en-US" sz="2600" dirty="0"/>
          </a:p>
        </p:txBody>
      </p:sp>
      <p:pic>
        <p:nvPicPr>
          <p:cNvPr id="5" name="Image 0" descr="1.6 Produit vectori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 vectoriel — simulation 3D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  <p:pic>
        <p:nvPicPr>
          <p:cNvPr id="26" name="sim_v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8572" y="1003154"/>
            <a:ext cx="11274552" cy="51675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6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 vectoriel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6 Produit vectori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 vectoriel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6 Produit vectori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 vectoriel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6 Produit vectori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 vectoriel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6 Produit vectori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 mixte</a:t>
            </a:r>
            <a:endParaRPr lang="en-US" sz="2600" dirty="0"/>
          </a:p>
        </p:txBody>
      </p:sp>
      <p:pic>
        <p:nvPicPr>
          <p:cNvPr id="5" name="Image 0" descr="1.7 Produit mix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 mixte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7 Produit mix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 mixte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7 Produit mix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 d'un vecteur</a:t>
            </a:r>
            <a:endParaRPr lang="en-US" sz="2600" dirty="0"/>
          </a:p>
        </p:txBody>
      </p:sp>
      <p:pic>
        <p:nvPicPr>
          <p:cNvPr id="5" name="Image 0" descr="1.8 Moment d'un vecte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 d'un vecteur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8 Moment d'un vecte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 d'un vecteur — simulation 3D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31</a:t>
            </a:fld>
            <a:endParaRPr lang="en-US"/>
          </a:p>
        </p:txBody>
      </p:sp>
      <p:pic>
        <p:nvPicPr>
          <p:cNvPr id="26" name="sim_m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8572" y="1003154"/>
            <a:ext cx="11274552" cy="51675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6"/>
                </p:tgtEl>
              </p:cMediaNode>
            </p:video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Dérivée d'un vecteur</a:t>
            </a:r>
            <a:endParaRPr lang="en-US" sz="2600" dirty="0"/>
          </a:p>
        </p:txBody>
      </p:sp>
      <p:pic>
        <p:nvPicPr>
          <p:cNvPr id="5" name="Image 0" descr="1.9 Dérivée d'un vecte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Dérivée d'un vecteur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9 Dérivée d'un vecte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endParaRPr lang="en-US" sz="2600" dirty="0"/>
          </a:p>
        </p:txBody>
      </p:sp>
      <p:pic>
        <p:nvPicPr>
          <p:cNvPr id="5" name="Image 0" descr="1.10 L'essentiel du chapit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Exercices d'entraînement</a:t>
            </a:r>
            <a:endParaRPr lang="en-US" sz="2600" dirty="0"/>
          </a:p>
        </p:txBody>
      </p:sp>
      <p:pic>
        <p:nvPicPr>
          <p:cNvPr id="5" name="Image 0" descr="1.11 Exercices d'entraîn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Exercices d'entraînement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11 Exercices d'entraîn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Corrigés des exercices</a:t>
            </a:r>
            <a:endParaRPr lang="en-US" sz="2600" dirty="0"/>
          </a:p>
        </p:txBody>
      </p:sp>
      <p:pic>
        <p:nvPicPr>
          <p:cNvPr id="5" name="Image 0" descr="1.12 Corrigés des exerci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Corrigés des exercices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12 Corrigés des exerci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3291840"/>
            <a:ext cx="292608" cy="9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" name="Shape 1"/>
          <p:cNvSpPr/>
          <p:nvPr/>
        </p:nvSpPr>
        <p:spPr>
          <a:xfrm>
            <a:off x="8595360" y="3794760"/>
            <a:ext cx="278287" cy="9042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8595360" y="4297680"/>
            <a:ext cx="236725" cy="17199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8595360" y="4800600"/>
            <a:ext cx="171991" cy="23672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595360" y="530352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595360" y="5806440"/>
            <a:ext cx="0" cy="29260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H="1">
            <a:off x="8504939" y="630936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V="1">
            <a:off x="9098280" y="3168179"/>
            <a:ext cx="265193" cy="1236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9098280" y="3759100"/>
            <a:ext cx="290427" cy="356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098280" y="4297680"/>
            <a:ext cx="287232" cy="5583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098280" y="4800600"/>
            <a:ext cx="255921" cy="1418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098280" y="5303520"/>
            <a:ext cx="199558" cy="21400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098280" y="5806440"/>
            <a:ext cx="123661" cy="2651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098280" y="6309360"/>
            <a:ext cx="35660" cy="29042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V="1">
            <a:off x="9601200" y="3067689"/>
            <a:ext cx="188085" cy="22415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V="1">
            <a:off x="9601200" y="3639701"/>
            <a:ext cx="248146" cy="1550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9601200" y="4226892"/>
            <a:ext cx="283916" cy="7078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601200" y="4800600"/>
            <a:ext cx="291895" cy="204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01200" y="5303520"/>
            <a:ext cx="271301" cy="10961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601200" y="5806440"/>
            <a:ext cx="224151" cy="1880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01200" y="6309360"/>
            <a:ext cx="155059" cy="24814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V="1">
            <a:off x="10104120" y="3009202"/>
            <a:ext cx="75733" cy="28263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V="1">
            <a:off x="10104120" y="3549358"/>
            <a:ext cx="159366" cy="24540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V="1">
            <a:off x="10104120" y="4113536"/>
            <a:ext cx="227399" cy="18414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V="1">
            <a:off x="10104120" y="4695739"/>
            <a:ext cx="273173" cy="1048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V="1">
            <a:off x="10104120" y="5288206"/>
            <a:ext cx="292207" cy="153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104120" y="5806440"/>
            <a:ext cx="282638" cy="757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104120" y="6309360"/>
            <a:ext cx="245402" cy="1593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H="1" flipV="1">
            <a:off x="10556229" y="3003677"/>
            <a:ext cx="50811" cy="2881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V="1">
            <a:off x="10607040" y="3505000"/>
            <a:ext cx="40723" cy="2897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 flipV="1">
            <a:off x="10607040" y="4034686"/>
            <a:ext cx="128271" cy="26299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 flipV="1">
            <a:off x="10607040" y="4590115"/>
            <a:ext cx="203263" cy="2104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V="1">
            <a:off x="10607040" y="5166149"/>
            <a:ext cx="258358" cy="13737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V="1">
            <a:off x="10607040" y="5755629"/>
            <a:ext cx="288163" cy="508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607040" y="6309360"/>
            <a:ext cx="289760" cy="4072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 flipH="1" flipV="1">
            <a:off x="10942127" y="3052150"/>
            <a:ext cx="167833" cy="23969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 flipH="1" flipV="1">
            <a:off x="11024410" y="3514938"/>
            <a:ext cx="85550" cy="27982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 flipV="1">
            <a:off x="11109960" y="4005117"/>
            <a:ext cx="5107" cy="2925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 flipV="1">
            <a:off x="11109960" y="4523934"/>
            <a:ext cx="95264" cy="2766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 flipV="1">
            <a:off x="11109960" y="5069833"/>
            <a:ext cx="176096" cy="2336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 flipV="1">
            <a:off x="11109960" y="5638607"/>
            <a:ext cx="239690" cy="1678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V="1">
            <a:off x="11109960" y="6223810"/>
            <a:ext cx="279822" cy="855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 flipH="1" flipV="1">
            <a:off x="11359474" y="3145536"/>
            <a:ext cx="253406" cy="14630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 flipH="1" flipV="1">
            <a:off x="11417087" y="3577310"/>
            <a:ext cx="195793" cy="2174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 flipH="1" flipV="1">
            <a:off x="11493866" y="4030369"/>
            <a:ext cx="119014" cy="2673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 flipH="1" flipV="1">
            <a:off x="11582294" y="4509595"/>
            <a:ext cx="30586" cy="29100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 flipV="1">
            <a:off x="11612880" y="5017306"/>
            <a:ext cx="60837" cy="2862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 flipV="1">
            <a:off x="11612880" y="5553034"/>
            <a:ext cx="146304" cy="25340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 flipV="1">
            <a:off x="11612880" y="6113567"/>
            <a:ext cx="217450" cy="1957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1" name="Text 49"/>
          <p:cNvSpPr txBox="1"/>
          <p:nvPr/>
        </p:nvSpPr>
        <p:spPr>
          <a:xfrm>
            <a:off x="731520" y="23774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du chapitre 1</a:t>
            </a:r>
            <a:endParaRPr lang="en-US" sz="4000" dirty="0"/>
          </a:p>
        </p:txBody>
      </p:sp>
      <p:sp>
        <p:nvSpPr>
          <p:cNvPr id="52" name="Text 50"/>
          <p:cNvSpPr txBox="1"/>
          <p:nvPr/>
        </p:nvSpPr>
        <p:spPr>
          <a:xfrm>
            <a:off x="731520" y="3200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 vectoriel</a:t>
            </a:r>
            <a:endParaRPr lang="en-US" sz="2400" dirty="0"/>
          </a:p>
        </p:txBody>
      </p:sp>
      <p:sp>
        <p:nvSpPr>
          <p:cNvPr id="53" name="Text 51"/>
          <p:cNvSpPr txBox="1"/>
          <p:nvPr/>
        </p:nvSpPr>
        <p:spPr>
          <a:xfrm>
            <a:off x="731520" y="40233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 chapitre : Cinématique du point matériel</a:t>
            </a:r>
            <a:endParaRPr lang="en-US" sz="1600" dirty="0"/>
          </a:p>
        </p:txBody>
      </p:sp>
      <p:sp>
        <p:nvSpPr>
          <p:cNvPr id="54" name="Text 52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Papa Touty TRAORÉ — Université Souleymane Niang de Matam</a:t>
            </a:r>
            <a:endParaRPr lang="en-US" sz="1200" dirty="0"/>
          </a:p>
        </p:txBody>
      </p:sp>
      <p:sp>
        <p:nvSpPr>
          <p:cNvPr id="55" name="Logo USNM (cadre)"/>
          <p:cNvSpPr/>
          <p:nvPr/>
        </p:nvSpPr>
        <p:spPr>
          <a:xfrm>
            <a:off x="10378440" y="384048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8E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Logo Université Souleymane Niang de Matam" descr="usnm-logo-h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475488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Physique I — Chapitre 1 : Calcul vectoriel</dc:title>
  <dc:subject>PptxGenJS Presentation</dc:subject>
  <dc:creator>Dr Papa Touty Traoré</dc:creator>
  <cp:lastModifiedBy>Dr Papa Touty Traoré</cp:lastModifiedBy>
  <cp:revision>1</cp:revision>
  <dcterms:created xsi:type="dcterms:W3CDTF">2026-10-10T11:41:02Z</dcterms:created>
  <dcterms:modified xsi:type="dcterms:W3CDTF">2026-10-10T11:41:02Z</dcterms:modified>
</cp:coreProperties>
</file>